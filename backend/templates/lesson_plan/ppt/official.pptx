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dia/image3.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theme" Target="theme/theme2.xml"/><Relationship Id="rId8" Type="http://schemas.openxmlformats.org/officeDocument/2006/relationships/slideMaster" Target="slideMasters/slideMaster2.xml"/><Relationship Id="rId21" Type="http://schemas.openxmlformats.org/officeDocument/2006/relationships/notesSlide" Target="notesSlides/notesSlide1.xml"/><Relationship Id="rId22" Type="http://schemas.openxmlformats.org/officeDocument/2006/relationships/notesSlide" Target="notesSlides/notesSlide2.xml"/><Relationship Id="rId23" Type="http://schemas.openxmlformats.org/officeDocument/2006/relationships/notesSlide" Target="notesSlides/notesSlide3.xml"/><Relationship Id="rId24" Type="http://schemas.openxmlformats.org/officeDocument/2006/relationships/notesSlide" Target="notesSlides/notesSlide4.xml"/><Relationship Id="rId25" Type="http://schemas.openxmlformats.org/officeDocument/2006/relationships/notesSlide" Target="notesSlides/notesSlide5.xml"/><Relationship Id="rId26" Type="http://schemas.openxmlformats.org/officeDocument/2006/relationships/notesSlide" Target="notesSlides/notesSlide6.xml"/><Relationship Id="rId27" Type="http://schemas.openxmlformats.org/officeDocument/2006/relationships/notesSlide" Target="notesSlides/notesSlide7.xml"/><Relationship Id="rId28" Type="http://schemas.openxmlformats.org/officeDocument/2006/relationships/notesSlide" Target="notesSlides/notesSlide8.xml"/><Relationship Id="rId29" Type="http://schemas.openxmlformats.org/officeDocument/2006/relationships/notesSlide" Target="notesSlides/notesSlide9.xml"/><Relationship Id="rId30" Type="http://schemas.openxmlformats.org/officeDocument/2006/relationships/notesSlide" Target="notesSlides/notesSlide10.xml"/><Relationship Id="rId31" Type="http://schemas.openxmlformats.org/officeDocument/2006/relationships/notesSlide" Target="notesSlides/notesSlide11.xml"/><Relationship Id="rId32" Type="http://schemas.openxmlformats.org/officeDocument/2006/relationships/notesSlide" Target="notesSlides/not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大家好，欢迎来到本课程的学习。本课程将系统介绍[课程主标题]的核心概念与应用。在接下来的时间里，我们将一起探索[课程副标题]的奥秘。希望通过本课程的学习，大家能够掌握相关知识，提升专业技能。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课程主要分为四个部分。首先，我们将通过引言与概述部分了解课程的整体框架。接着，在第二章深入解析核心概念。第三章将通过具体案例进行分析和讨论，帮助大家巩固知识。最后，我们会对整个课程内容进行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现在，我们正式进入第一章的学习。本章的主题是[章节标题]，我们将在这里探讨该领域的基础概念和重要性，为后续的深入学习打下坚实的基础。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本节我们将聚焦于[本节核心标题]。首先，我们来看一下核心概念的定义和内涵。大家可以看到，这里有几个关键点需要我们掌握。</a:t>
            </a:r>
          </a:p>
          <a:p>
            <a:pPr algn="l" indent="0">
              <a:lnSpc>
                <a:spcPct val="100000"/>
              </a:lnSpc>
            </a:pPr>
            <a:r>
              <a:rPr lang="en-US" b="false" i="false" strike="noStrike" u="none" sz="1400">
                <a:solidFill>
                  <a:srgbClr val="000000"/>
                </a:solidFill>
              </a:rPr>
              <a:t>接下来，我们将通过列表的形式，逐一解析这些要点，确保大家能够全面理解，并能将其应用到后续的研究分析中。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继续探讨[章节标题]。在这一页，我们将深入了解[本节核心标题]。左侧的蓝色区域清晰地标明了我们所处的章节，右侧则是详细的解释和说明。这种布局有助于我们在学习具体内容时，时刻保持对整体框架的认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为了更直观地理解[本节核心标题]，我们来看这张图。左边的图示清晰地描绘了[图片内容]，右边的文字则对其进行了详细的解释。这种图文结合的方式，有助于我们将抽象的概念具体化，从而更好地掌握知识。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现在我们来看一个更宏观的视图。上方的这张图展示了[图片内容]的全貌。接下来，我们将在下方的文字部分，对图中的每一个环节进行详细的解读，帮助大家建立一个完整的知识体系。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本章的内容就到这里。我们来总结一下，通过本章的学习，我们主要掌握了三个核心要点：</a:t>
            </a:r>
          </a:p>
          <a:p>
            <a:pPr algn="l" indent="0">
              <a:lnSpc>
                <a:spcPct val="100000"/>
              </a:lnSpc>
            </a:pPr>
            <a:r>
              <a:rPr lang="en-US" b="false" i="false" strike="noStrike" u="none" sz="1400">
                <a:solidFill>
                  <a:srgbClr val="000000"/>
                </a:solidFill>
              </a:rPr>
              <a:t>首先，我们理解了核心概念A，这是后续所有学习的基石；</a:t>
            </a:r>
          </a:p>
          <a:p>
            <a:pPr algn="l" indent="0">
              <a:lnSpc>
                <a:spcPct val="100000"/>
              </a:lnSpc>
            </a:pPr>
            <a:r>
              <a:rPr lang="en-US" b="false" i="false" strike="noStrike" u="none" sz="1400">
                <a:solidFill>
                  <a:srgbClr val="000000"/>
                </a:solidFill>
              </a:rPr>
              <a:t>其次，我们深入学习了理论B，大家要特别注意推导过程中那些容易被忽略的关键假设；</a:t>
            </a:r>
          </a:p>
          <a:p>
            <a:pPr algn="l" indent="0">
              <a:lnSpc>
                <a:spcPct val="100000"/>
              </a:lnSpc>
            </a:pPr>
            <a:r>
              <a:rPr lang="en-US" b="false" i="false" strike="noStrike" u="none" sz="1400">
                <a:solidFill>
                  <a:srgbClr val="000000"/>
                </a:solidFill>
              </a:rPr>
              <a:t>最后，我们学会了如何运用方法C，希望大家课后能尝试用它来解决更多实际问题。</a:t>
            </a:r>
          </a:p>
          <a:p>
            <a:pPr algn="l" indent="0">
              <a:lnSpc>
                <a:spcPct val="100000"/>
              </a:lnSpc>
            </a:pPr>
            <a:r>
              <a:rPr lang="en-US" b="false" i="false" strike="noStrike" u="none" sz="1400">
                <a:solidFill>
                  <a:srgbClr val="000000"/>
                </a:solidFill>
              </a:rPr>
              <a:t>希望大家能够牢记这些知识点，为下一章的进阶学习做好准备。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为了巩固今天所学的内容，我布置了两个课后作业。请大家认真阅读作业要求，按时完成。提交截止日期是2026年05月20日，请通过课程学习平台提交。希望大家通过练习，能够真正掌握所学知识。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本次课程的主要内容已经全部结束。感谢大家的认真聆听！现在是提问环节，如果大家对今天的内容有任何疑问，欢迎随时提出。也可以通过屏幕上的联系方式与我交流。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这一页我们继续深入探讨[本节核心标题]。这里提供了详细的文字说明，大家可以仔细阅读，理解其中的逻辑关系和关键信息。如果有任何不明白的地方，可以随时提出。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在讲解[本节核心标题]时，有一个非常重要的点需要大家特别注意。正如这个提示框中所示，[需要特别强调的内容]。这一点对于我们后续的学习至关重要，请大家务必牢记。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e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e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e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e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eg"/><Relationship Id="rId3" Type="http://schemas.openxmlformats.org/officeDocument/2006/relationships/image" Target="../media/image4.jpe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eg"/><Relationship Id="rId3" Type="http://schemas.openxmlformats.org/officeDocument/2006/relationships/image" Target="../media/image5.jpe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e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e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8.png"/><Relationship Id="rId6" Type="http://schemas.openxmlformats.org/officeDocument/2006/relationships/image" Target="../media/image9.sv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e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e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eg"/><Relationship Id="rId3" Type="http://schemas.openxmlformats.org/officeDocument/2006/relationships/notesSlide" Target="../notesSlides/notesSlide12.xml"/><Relationship Id="rId4" Type="http://schemas.openxmlformats.org/officeDocument/2006/relationships/image" Target="../media/image10.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508000" y="381000"/>
            <a:ext cx="1270000" cy="1270000"/>
          </a:xfrm>
          <a:prstGeom prst="rect">
            <a:avLst/>
          </a:prstGeom>
          <a:noFill/>
          <a:ln w="25400" cmpd="sng" cap="flat">
            <a:noFill/>
            <a:prstDash val="solid"/>
            <a:round/>
          </a:ln>
        </p:spPr>
      </p:pic>
      <p:sp>
        <p:nvSpPr>
          <p:cNvPr name="AutoShape 3" id="3"/>
          <p:cNvSpPr/>
          <p:nvPr/>
        </p:nvSpPr>
        <p:spPr>
          <a:xfrm rot="0" flipH="false" flipV="false">
            <a:off x="0" y="2032000"/>
            <a:ext cx="1219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004080"/>
                </a:solidFill>
                <a:latin typeface="Noto Sans SC"/>
                <a:ea typeface="Noto Sans SC"/>
                <a:cs typeface="Noto Sans SC"/>
                <a:sym typeface="Noto Sans SC"/>
              </a:rPr>
              <a:t>[课程主标题]</a:t>
            </a:r>
            <a:endParaRPr lang="en-US" sz="1100"/>
          </a:p>
        </p:txBody>
      </p:sp>
      <p:sp>
        <p:nvSpPr>
          <p:cNvPr name="AutoShape 4" id="4"/>
          <p:cNvSpPr/>
          <p:nvPr/>
        </p:nvSpPr>
        <p:spPr>
          <a:xfrm rot="0" flipH="false" flipV="false">
            <a:off x="0" y="3175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333333"/>
                </a:solidFill>
                <a:latin typeface="Noto Sans SC"/>
                <a:ea typeface="Noto Sans SC"/>
                <a:cs typeface="Noto Sans SC"/>
                <a:sym typeface="Noto Sans SC"/>
              </a:rPr>
              <a:t>[课程副标题 / Course Code]</a:t>
            </a:r>
            <a:endParaRPr lang="en-US" sz="1100"/>
          </a:p>
        </p:txBody>
      </p:sp>
      <p:sp>
        <p:nvSpPr>
          <p:cNvPr name="AutoShape 5" id="5"/>
          <p:cNvSpPr/>
          <p:nvPr/>
        </p:nvSpPr>
        <p:spPr>
          <a:xfrm rot="0" flipH="false" flipV="false">
            <a:off x="4826000" y="4064000"/>
            <a:ext cx="2540000" cy="25400"/>
          </a:xfrm>
          <a:prstGeom prst="roundRect">
            <a:avLst>
              <a:gd name="adj" fmla="val 0"/>
            </a:avLst>
          </a:prstGeom>
          <a:solidFill>
            <a:srgbClr val="F5A623">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4572000"/>
            <a:ext cx="12192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4A4A4A"/>
                </a:solidFill>
                <a:latin typeface="Noto Sans SC"/>
                <a:ea typeface="Noto Sans SC"/>
                <a:cs typeface="Noto Sans SC"/>
                <a:sym typeface="Noto Sans SC"/>
              </a:rPr>
              <a:t>主讲人：[教师姓名] | [院系/部门]</a:t>
            </a:r>
            <a:endParaRPr lang="en-US" sz="1100"/>
          </a:p>
        </p:txBody>
      </p:sp>
      <p:sp>
        <p:nvSpPr>
          <p:cNvPr name="AutoShape 7" id="7"/>
          <p:cNvSpPr/>
          <p:nvPr/>
        </p:nvSpPr>
        <p:spPr>
          <a:xfrm rot="0" flipH="false" flipV="false">
            <a:off x="0" y="5588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888888"/>
                </a:solidFill>
                <a:latin typeface="Noto Sans SC"/>
                <a:ea typeface="Noto Sans SC"/>
                <a:cs typeface="Noto Sans SC"/>
                <a:sym typeface="Noto Sans SC"/>
              </a:rPr>
              <a:t>[YYYY年MM月DD日]</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508000" y="381000"/>
            <a:ext cx="1270000" cy="1270000"/>
          </a:xfrm>
          <a:prstGeom prst="rect">
            <a:avLst/>
          </a:prstGeom>
          <a:noFill/>
          <a:ln w="25400" cmpd="sng" cap="flat">
            <a:noFill/>
            <a:prstDash val="solid"/>
            <a:round/>
          </a:ln>
        </p:spPr>
      </p:pic>
      <p:sp>
        <p:nvSpPr>
          <p:cNvPr name="AutoShape 4" id="4"/>
          <p:cNvSpPr/>
          <p:nvPr/>
        </p:nvSpPr>
        <p:spPr>
          <a:xfrm rot="0" flipH="false" flipV="false">
            <a:off x="2032000" y="762000"/>
            <a:ext cx="508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4080"/>
                </a:solidFill>
                <a:latin typeface="Noto Sans SC"/>
                <a:ea typeface="Noto Sans SC"/>
                <a:cs typeface="Noto Sans SC"/>
                <a:sym typeface="Noto Sans SC"/>
              </a:rPr>
              <a:t>CONTENTS / 目录</a:t>
            </a:r>
            <a:endParaRPr lang="en-US" sz="1100"/>
          </a:p>
        </p:txBody>
      </p:sp>
      <p:sp>
        <p:nvSpPr>
          <p:cNvPr name="AutoShape 5" id="5"/>
          <p:cNvSpPr/>
          <p:nvPr/>
        </p:nvSpPr>
        <p:spPr>
          <a:xfrm rot="0" flipH="false" flipV="false">
            <a:off x="3556000" y="1778000"/>
            <a:ext cx="7620000" cy="1016000"/>
          </a:xfrm>
          <a:prstGeom prst="roundRect">
            <a:avLst>
              <a:gd name="adj" fmla="val 15000"/>
            </a:avLst>
          </a:prstGeom>
          <a:solidFill>
            <a:srgbClr val="FFFFFF">
              <a:alpha val="95000"/>
            </a:srgbClr>
          </a:solidFill>
          <a:ln w="25400" cmpd="sng" cap="flat">
            <a:noFill/>
            <a:prstDash val="solid"/>
            <a:round/>
          </a:ln>
          <a:effectLst>
            <a:outerShdw dir="5400000" dist="50800" blurRad="190500" algn="tl" rotWithShape="false">
              <a:srgbClr val="004080">
                <a:alpha val="10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3937000" y="1905000"/>
            <a:ext cx="1016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5A623"/>
                </a:solidFill>
                <a:latin typeface="Roboto"/>
                <a:ea typeface="Roboto"/>
                <a:cs typeface="Roboto"/>
                <a:sym typeface="Roboto"/>
              </a:rPr>
              <a:t>01</a:t>
            </a:r>
            <a:endParaRPr lang="en-US" sz="1100"/>
          </a:p>
        </p:txBody>
      </p:sp>
      <p:sp>
        <p:nvSpPr>
          <p:cNvPr name="AutoShape 7" id="7"/>
          <p:cNvSpPr/>
          <p:nvPr/>
        </p:nvSpPr>
        <p:spPr>
          <a:xfrm rot="0" flipH="false" flipV="false">
            <a:off x="5207000" y="2057400"/>
            <a:ext cx="571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200">
                <a:solidFill>
                  <a:srgbClr val="333333"/>
                </a:solidFill>
                <a:latin typeface="Noto Sans SC"/>
                <a:ea typeface="Noto Sans SC"/>
                <a:cs typeface="Noto Sans SC"/>
                <a:sym typeface="Noto Sans SC"/>
              </a:rPr>
              <a:t>第一章：引言与概述</a:t>
            </a:r>
            <a:endParaRPr lang="en-US" sz="1100"/>
          </a:p>
        </p:txBody>
      </p:sp>
      <p:sp>
        <p:nvSpPr>
          <p:cNvPr name="AutoShape 8" id="8"/>
          <p:cNvSpPr/>
          <p:nvPr/>
        </p:nvSpPr>
        <p:spPr>
          <a:xfrm rot="0" flipH="false" flipV="false">
            <a:off x="3556000" y="2984500"/>
            <a:ext cx="7620000" cy="1016000"/>
          </a:xfrm>
          <a:prstGeom prst="roundRect">
            <a:avLst>
              <a:gd name="adj" fmla="val 15000"/>
            </a:avLst>
          </a:prstGeom>
          <a:solidFill>
            <a:srgbClr val="FFFFFF">
              <a:alpha val="95000"/>
            </a:srgbClr>
          </a:solidFill>
          <a:ln w="25400" cmpd="sng" cap="flat">
            <a:noFill/>
            <a:prstDash val="solid"/>
            <a:round/>
          </a:ln>
          <a:effectLst>
            <a:outerShdw dir="5400000" dist="50800" blurRad="190500" algn="tl" rotWithShape="false">
              <a:srgbClr val="004080">
                <a:alpha val="10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3937000" y="3111500"/>
            <a:ext cx="1016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5A623"/>
                </a:solidFill>
                <a:latin typeface="Roboto"/>
                <a:ea typeface="Roboto"/>
                <a:cs typeface="Roboto"/>
                <a:sym typeface="Roboto"/>
              </a:rPr>
              <a:t>02</a:t>
            </a:r>
            <a:endParaRPr lang="en-US" sz="1100"/>
          </a:p>
        </p:txBody>
      </p:sp>
      <p:sp>
        <p:nvSpPr>
          <p:cNvPr name="AutoShape 10" id="10"/>
          <p:cNvSpPr/>
          <p:nvPr/>
        </p:nvSpPr>
        <p:spPr>
          <a:xfrm rot="0" flipH="false" flipV="false">
            <a:off x="5207000" y="3263900"/>
            <a:ext cx="571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200">
                <a:solidFill>
                  <a:srgbClr val="333333"/>
                </a:solidFill>
                <a:latin typeface="Noto Sans SC"/>
                <a:ea typeface="Noto Sans SC"/>
                <a:cs typeface="Noto Sans SC"/>
                <a:sym typeface="Noto Sans SC"/>
              </a:rPr>
              <a:t>第二章：核心概念解析</a:t>
            </a:r>
            <a:endParaRPr lang="en-US" sz="1100"/>
          </a:p>
        </p:txBody>
      </p:sp>
      <p:sp>
        <p:nvSpPr>
          <p:cNvPr name="AutoShape 11" id="11"/>
          <p:cNvSpPr/>
          <p:nvPr/>
        </p:nvSpPr>
        <p:spPr>
          <a:xfrm rot="0" flipH="false" flipV="false">
            <a:off x="3556000" y="4191000"/>
            <a:ext cx="7620000" cy="1016000"/>
          </a:xfrm>
          <a:prstGeom prst="roundRect">
            <a:avLst>
              <a:gd name="adj" fmla="val 15000"/>
            </a:avLst>
          </a:prstGeom>
          <a:solidFill>
            <a:srgbClr val="FFFFFF">
              <a:alpha val="95000"/>
            </a:srgbClr>
          </a:solidFill>
          <a:ln w="25400" cmpd="sng" cap="flat">
            <a:noFill/>
            <a:prstDash val="solid"/>
            <a:round/>
          </a:ln>
          <a:effectLst>
            <a:outerShdw dir="5400000" dist="50800" blurRad="190500" algn="tl" rotWithShape="false">
              <a:srgbClr val="004080">
                <a:alpha val="10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937000" y="4318000"/>
            <a:ext cx="1016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5A623"/>
                </a:solidFill>
                <a:latin typeface="Roboto"/>
                <a:ea typeface="Roboto"/>
                <a:cs typeface="Roboto"/>
                <a:sym typeface="Roboto"/>
              </a:rPr>
              <a:t>03</a:t>
            </a:r>
            <a:endParaRPr lang="en-US" sz="1100"/>
          </a:p>
        </p:txBody>
      </p:sp>
      <p:sp>
        <p:nvSpPr>
          <p:cNvPr name="AutoShape 13" id="13"/>
          <p:cNvSpPr/>
          <p:nvPr/>
        </p:nvSpPr>
        <p:spPr>
          <a:xfrm rot="0" flipH="false" flipV="false">
            <a:off x="5207000" y="4470400"/>
            <a:ext cx="571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200">
                <a:solidFill>
                  <a:srgbClr val="333333"/>
                </a:solidFill>
                <a:latin typeface="Noto Sans SC"/>
                <a:ea typeface="Noto Sans SC"/>
                <a:cs typeface="Noto Sans SC"/>
                <a:sym typeface="Noto Sans SC"/>
              </a:rPr>
              <a:t>第三章：案例分析与讨论</a:t>
            </a:r>
            <a:endParaRPr lang="en-US" sz="1100"/>
          </a:p>
        </p:txBody>
      </p:sp>
      <p:sp>
        <p:nvSpPr>
          <p:cNvPr name="AutoShape 14" id="14"/>
          <p:cNvSpPr/>
          <p:nvPr/>
        </p:nvSpPr>
        <p:spPr>
          <a:xfrm rot="0" flipH="false" flipV="false">
            <a:off x="3556000" y="5397500"/>
            <a:ext cx="7620000" cy="1016000"/>
          </a:xfrm>
          <a:prstGeom prst="roundRect">
            <a:avLst>
              <a:gd name="adj" fmla="val 15000"/>
            </a:avLst>
          </a:prstGeom>
          <a:solidFill>
            <a:srgbClr val="FFFFFF">
              <a:alpha val="95000"/>
            </a:srgbClr>
          </a:solidFill>
          <a:ln w="25400" cmpd="sng" cap="flat">
            <a:noFill/>
            <a:prstDash val="solid"/>
            <a:round/>
          </a:ln>
          <a:effectLst>
            <a:outerShdw dir="5400000" dist="50800" blurRad="190500" algn="tl" rotWithShape="false">
              <a:srgbClr val="004080">
                <a:alpha val="10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3937000" y="5524500"/>
            <a:ext cx="1016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5A623"/>
                </a:solidFill>
                <a:latin typeface="Roboto"/>
                <a:ea typeface="Roboto"/>
                <a:cs typeface="Roboto"/>
                <a:sym typeface="Roboto"/>
              </a:rPr>
              <a:t>04</a:t>
            </a:r>
            <a:endParaRPr lang="en-US" sz="1100"/>
          </a:p>
        </p:txBody>
      </p:sp>
      <p:sp>
        <p:nvSpPr>
          <p:cNvPr name="AutoShape 16" id="16"/>
          <p:cNvSpPr/>
          <p:nvPr/>
        </p:nvSpPr>
        <p:spPr>
          <a:xfrm rot="0" flipH="false" flipV="false">
            <a:off x="5207000" y="5676900"/>
            <a:ext cx="571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200">
                <a:solidFill>
                  <a:srgbClr val="333333"/>
                </a:solidFill>
                <a:latin typeface="Noto Sans SC"/>
                <a:ea typeface="Noto Sans SC"/>
                <a:cs typeface="Noto Sans SC"/>
                <a:sym typeface="Noto Sans SC"/>
              </a:rPr>
              <a:t>第四章：总结与展望</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508000" y="381000"/>
            <a:ext cx="1270000" cy="1270000"/>
          </a:xfrm>
          <a:prstGeom prst="rect">
            <a:avLst/>
          </a:prstGeom>
          <a:noFill/>
          <a:ln w="25400" cmpd="sng" cap="flat">
            <a:noFill/>
            <a:prstDash val="solid"/>
            <a:round/>
          </a:ln>
        </p:spPr>
      </p:pic>
      <p:sp>
        <p:nvSpPr>
          <p:cNvPr name="AutoShape 4" id="4"/>
          <p:cNvSpPr/>
          <p:nvPr/>
        </p:nvSpPr>
        <p:spPr>
          <a:xfrm rot="0" flipH="false" flipV="false">
            <a:off x="0" y="2540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888888"/>
                </a:solidFill>
                <a:latin typeface="Roboto Light"/>
                <a:ea typeface="Roboto Light"/>
                <a:cs typeface="Roboto Light"/>
                <a:sym typeface="Roboto Light"/>
              </a:rPr>
              <a:t>[CHAPTER 01]</a:t>
            </a:r>
            <a:endParaRPr lang="en-US" sz="1100"/>
          </a:p>
        </p:txBody>
      </p:sp>
      <p:sp>
        <p:nvSpPr>
          <p:cNvPr name="AutoShape 5" id="5"/>
          <p:cNvSpPr/>
          <p:nvPr/>
        </p:nvSpPr>
        <p:spPr>
          <a:xfrm rot="0" flipH="false" flipV="false">
            <a:off x="0" y="3302000"/>
            <a:ext cx="12192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004080"/>
                </a:solidFill>
                <a:latin typeface="Noto Sans SC"/>
                <a:ea typeface="Noto Sans SC"/>
                <a:cs typeface="Noto Sans SC"/>
                <a:sym typeface="Noto Sans SC"/>
              </a:rPr>
              <a:t>[章节标题]</a:t>
            </a:r>
            <a:endParaRPr lang="en-US" sz="1100"/>
          </a:p>
        </p:txBody>
      </p:sp>
      <p:sp>
        <p:nvSpPr>
          <p:cNvPr name="AutoShape 6" id="6"/>
          <p:cNvSpPr/>
          <p:nvPr/>
        </p:nvSpPr>
        <p:spPr>
          <a:xfrm rot="0" flipH="false" flipV="false">
            <a:off x="0" y="5842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888888"/>
                </a:solidFill>
                <a:latin typeface="Noto Sans SC"/>
                <a:ea typeface="Noto Sans SC"/>
                <a:cs typeface="Noto Sans SC"/>
                <a:sym typeface="Noto Sans SC"/>
              </a:rPr>
              <a:t>[学校名称] | [课程名称] | [YYYY年MM月DD日]</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508000" y="381000"/>
            <a:ext cx="1016000" cy="1016000"/>
          </a:xfrm>
          <a:prstGeom prst="rect">
            <a:avLst/>
          </a:prstGeom>
          <a:noFill/>
          <a:ln w="25400" cmpd="sng" cap="flat">
            <a:noFill/>
            <a:prstDash val="solid"/>
            <a:round/>
          </a:ln>
        </p:spPr>
      </p:pic>
      <p:sp>
        <p:nvSpPr>
          <p:cNvPr name="AutoShape 4" id="4"/>
          <p:cNvSpPr/>
          <p:nvPr/>
        </p:nvSpPr>
        <p:spPr>
          <a:xfrm rot="0" flipH="false" flipV="false">
            <a:off x="1778000" y="635000"/>
            <a:ext cx="889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4080"/>
                </a:solidFill>
                <a:latin typeface="Noto Sans SC"/>
                <a:ea typeface="Noto Sans SC"/>
                <a:cs typeface="Noto Sans SC"/>
                <a:sym typeface="Noto Sans SC"/>
              </a:rPr>
              <a:t>[本节核心标题]</a:t>
            </a:r>
            <a:endParaRPr lang="en-US" sz="1100"/>
          </a:p>
        </p:txBody>
      </p:sp>
      <p:sp>
        <p:nvSpPr>
          <p:cNvPr name="AutoShape 5" id="5"/>
          <p:cNvSpPr/>
          <p:nvPr/>
        </p:nvSpPr>
        <p:spPr>
          <a:xfrm rot="0" flipH="false" flipV="false">
            <a:off x="1016000" y="1778000"/>
            <a:ext cx="1016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400">
                <a:solidFill>
                  <a:srgbClr val="4A4A4A"/>
                </a:solidFill>
                <a:latin typeface="Noto Sans SC"/>
                <a:ea typeface="Noto Sans SC"/>
                <a:cs typeface="Noto Sans SC"/>
                <a:sym typeface="Noto Sans SC"/>
              </a:rPr>
              <a:t>[正文段落内容...] 这是一个标准的文本段落，用于展示课程的核心知识点。内容应详实、准确，逻辑清晰。行间距设置为1.6倍，以保证良好的可读性，帮助听众快速抓取重点信息。</a:t>
            </a:r>
            <a:endParaRPr lang="en-US" sz="1100"/>
          </a:p>
        </p:txBody>
      </p:sp>
      <p:sp>
        <p:nvSpPr>
          <p:cNvPr name="AutoShape 6" id="6"/>
          <p:cNvSpPr/>
          <p:nvPr/>
        </p:nvSpPr>
        <p:spPr>
          <a:xfrm rot="0" flipH="false" flipV="false">
            <a:off x="1016000" y="2921000"/>
            <a:ext cx="1016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400">
                <a:solidFill>
                  <a:srgbClr val="4A4A4A"/>
                </a:solidFill>
                <a:latin typeface="Noto Sans SC"/>
                <a:ea typeface="Noto Sans SC"/>
                <a:cs typeface="Noto Sans SC"/>
                <a:sym typeface="Noto Sans SC"/>
              </a:rPr>
              <a:t>[正文段落内容...] 继续阐述相关概念，结合实际案例进行深入分析，确保信息的完整性和连贯性，为后续的深入探讨打下坚实的理论基础。</a:t>
            </a:r>
            <a:endParaRPr lang="en-US" sz="1100"/>
          </a:p>
        </p:txBody>
      </p:sp>
      <p:sp>
        <p:nvSpPr>
          <p:cNvPr name="AutoShape 7" id="7"/>
          <p:cNvSpPr/>
          <p:nvPr/>
        </p:nvSpPr>
        <p:spPr>
          <a:xfrm rot="0" flipH="false" flipV="false">
            <a:off x="1016000" y="3937000"/>
            <a:ext cx="10160000" cy="1397000"/>
          </a:xfrm>
          <a:prstGeom prst="roundRect">
            <a:avLst>
              <a:gd name="adj" fmla="val 10909"/>
            </a:avLst>
          </a:prstGeom>
          <a:solidFill>
            <a:srgbClr val="004080">
              <a:alpha val="6000"/>
            </a:srgbClr>
          </a:solidFill>
          <a:ln w="12700" cmpd="sng" cap="flat">
            <a:solidFill>
              <a:srgbClr val="004080">
                <a:alpha val="15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270000" y="4127500"/>
            <a:ext cx="304800" cy="304800"/>
          </a:xfrm>
          <a:prstGeom prst="rect">
            <a:avLst/>
          </a:prstGeom>
        </p:spPr>
      </p:pic>
      <p:sp>
        <p:nvSpPr>
          <p:cNvPr name="AutoShape 9" id="9"/>
          <p:cNvSpPr/>
          <p:nvPr/>
        </p:nvSpPr>
        <p:spPr>
          <a:xfrm rot="0" flipH="false" flipV="false">
            <a:off x="1778000" y="4127500"/>
            <a:ext cx="914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3C3C3C"/>
                </a:solidFill>
                <a:latin typeface="Noto Sans SC"/>
                <a:ea typeface="Noto Sans SC"/>
                <a:cs typeface="Noto Sans SC"/>
                <a:sym typeface="Noto Sans SC"/>
              </a:rPr>
              <a:t>[列表项一]：重点掌握核心理论框架的构成要素与相互关系。</a:t>
            </a:r>
            <a:endParaRPr lang="en-US" sz="1100"/>
          </a:p>
        </p:txBody>
      </p:sp>
      <p:pic>
        <p:nvPicPr>
          <p:cNvPr name="Picture 10" id="10"/>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270000" y="4572000"/>
            <a:ext cx="304800" cy="304800"/>
          </a:xfrm>
          <a:prstGeom prst="rect">
            <a:avLst/>
          </a:prstGeom>
        </p:spPr>
      </p:pic>
      <p:sp>
        <p:nvSpPr>
          <p:cNvPr name="AutoShape 11" id="11"/>
          <p:cNvSpPr/>
          <p:nvPr/>
        </p:nvSpPr>
        <p:spPr>
          <a:xfrm rot="0" flipH="false" flipV="false">
            <a:off x="1778000" y="4572000"/>
            <a:ext cx="914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3C3C3C"/>
                </a:solidFill>
                <a:latin typeface="Noto Sans SC"/>
                <a:ea typeface="Noto Sans SC"/>
                <a:cs typeface="Noto Sans SC"/>
                <a:sym typeface="Noto Sans SC"/>
              </a:rPr>
              <a:t>[列表项二]：深入理解该方法论在实际学术研究中的具体应用场景。</a:t>
            </a:r>
            <a:endParaRPr lang="en-US" sz="1100"/>
          </a:p>
        </p:txBody>
      </p:sp>
      <p:pic>
        <p:nvPicPr>
          <p:cNvPr name="Picture 12" id="12"/>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270000" y="5016500"/>
            <a:ext cx="304800" cy="304800"/>
          </a:xfrm>
          <a:prstGeom prst="rect">
            <a:avLst/>
          </a:prstGeom>
        </p:spPr>
      </p:pic>
      <p:sp>
        <p:nvSpPr>
          <p:cNvPr name="AutoShape 13" id="13"/>
          <p:cNvSpPr/>
          <p:nvPr/>
        </p:nvSpPr>
        <p:spPr>
          <a:xfrm rot="0" flipH="false" flipV="false">
            <a:off x="1778000" y="5016500"/>
            <a:ext cx="914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3C3C3C"/>
                </a:solidFill>
                <a:latin typeface="Noto Sans SC"/>
                <a:ea typeface="Noto Sans SC"/>
                <a:cs typeface="Noto Sans SC"/>
                <a:sym typeface="Noto Sans SC"/>
              </a:rPr>
              <a:t>[列表项三]：能够独立完成相关数据的整理与初步分析工作。</a:t>
            </a:r>
            <a:endParaRPr lang="en-US" sz="1100"/>
          </a:p>
        </p:txBody>
      </p:sp>
      <p:sp>
        <p:nvSpPr>
          <p:cNvPr name="AutoShape 14" id="14"/>
          <p:cNvSpPr/>
          <p:nvPr/>
        </p:nvSpPr>
        <p:spPr>
          <a:xfrm rot="0" flipH="false" flipV="false">
            <a:off x="0" y="5969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646464"/>
                </a:solidFill>
                <a:latin typeface="Noto Sans SC"/>
                <a:ea typeface="Noto Sans SC"/>
                <a:cs typeface="Noto Sans SC"/>
                <a:sym typeface="Noto Sans SC"/>
              </a:rPr>
              <a:t>[学校名称] | [课程名称] | [YYYY年MM月DD日]</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685800"/>
            <a:ext cx="4064000" cy="5486400"/>
          </a:xfrm>
          <a:prstGeom prst="roundRect">
            <a:avLst>
              <a:gd name="adj" fmla="val 0"/>
            </a:avLst>
          </a:prstGeom>
          <a:solidFill>
            <a:srgbClr val="0040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508000" y="381000"/>
            <a:ext cx="1270000" cy="1270000"/>
          </a:xfrm>
          <a:prstGeom prst="rect">
            <a:avLst/>
          </a:prstGeom>
          <a:noFill/>
          <a:ln w="25400" cmpd="sng" cap="flat">
            <a:noFill/>
            <a:prstDash val="solid"/>
            <a:round/>
          </a:ln>
        </p:spPr>
      </p:pic>
      <p:sp>
        <p:nvSpPr>
          <p:cNvPr name="AutoShape 4" id="4"/>
          <p:cNvSpPr/>
          <p:nvPr/>
        </p:nvSpPr>
        <p:spPr>
          <a:xfrm rot="0" flipH="false" flipV="false">
            <a:off x="0" y="2921000"/>
            <a:ext cx="4064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[章节标题]</a:t>
            </a:r>
            <a:endParaRPr lang="en-US" sz="1100"/>
          </a:p>
        </p:txBody>
      </p:sp>
      <p:sp>
        <p:nvSpPr>
          <p:cNvPr name="AutoShape 5" id="5"/>
          <p:cNvSpPr/>
          <p:nvPr/>
        </p:nvSpPr>
        <p:spPr>
          <a:xfrm rot="0" flipH="false" flipV="false">
            <a:off x="4826000" y="889000"/>
            <a:ext cx="660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4080"/>
                </a:solidFill>
                <a:latin typeface="Noto Sans SC"/>
                <a:ea typeface="Noto Sans SC"/>
                <a:cs typeface="Noto Sans SC"/>
                <a:sym typeface="Noto Sans SC"/>
              </a:rPr>
              <a:t>[本节核心标题]</a:t>
            </a:r>
            <a:endParaRPr lang="en-US" sz="1100"/>
          </a:p>
        </p:txBody>
      </p:sp>
      <p:sp>
        <p:nvSpPr>
          <p:cNvPr name="AutoShape 6" id="6"/>
          <p:cNvSpPr/>
          <p:nvPr/>
        </p:nvSpPr>
        <p:spPr>
          <a:xfrm rot="0" flipH="false" flipV="false">
            <a:off x="4826000" y="2032000"/>
            <a:ext cx="6604000" cy="1397000"/>
          </a:xfrm>
          <a:prstGeom prst="roundRect">
            <a:avLst>
              <a:gd name="adj" fmla="val 7272"/>
            </a:avLst>
          </a:prstGeom>
          <a:solidFill>
            <a:srgbClr val="FFFFFF">
              <a:alpha val="90000"/>
            </a:srgbClr>
          </a:solidFill>
          <a:ln w="25400" cmpd="sng" cap="flat">
            <a:noFill/>
            <a:prstDash val="solid"/>
            <a:round/>
          </a:ln>
          <a:effectLst>
            <a:outerShdw dir="54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5080000" y="2222500"/>
            <a:ext cx="6096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4A4A4A"/>
                </a:solidFill>
                <a:latin typeface="Noto Sans SC"/>
                <a:ea typeface="Noto Sans SC"/>
                <a:cs typeface="Noto Sans SC"/>
                <a:sym typeface="Noto Sans SC"/>
              </a:rPr>
              <a:t>[正文段落内容...] 这种布局方式可以突出章节主题，同时在右侧提供详细的讲解内容，适合于内容层次分明的页面，帮助观众快速建立整体认知框架。</a:t>
            </a:r>
            <a:endParaRPr lang="en-US" sz="1100"/>
          </a:p>
        </p:txBody>
      </p:sp>
      <p:sp>
        <p:nvSpPr>
          <p:cNvPr name="AutoShape 8" id="8"/>
          <p:cNvSpPr/>
          <p:nvPr/>
        </p:nvSpPr>
        <p:spPr>
          <a:xfrm rot="0" flipH="false" flipV="false">
            <a:off x="4826000" y="3683000"/>
            <a:ext cx="6604000" cy="1397000"/>
          </a:xfrm>
          <a:prstGeom prst="roundRect">
            <a:avLst>
              <a:gd name="adj" fmla="val 7272"/>
            </a:avLst>
          </a:prstGeom>
          <a:solidFill>
            <a:srgbClr val="FFFFFF">
              <a:alpha val="90000"/>
            </a:srgbClr>
          </a:solidFill>
          <a:ln w="25400" cmpd="sng" cap="flat">
            <a:noFill/>
            <a:prstDash val="solid"/>
            <a:round/>
          </a:ln>
          <a:effectLst>
            <a:outerShdw dir="54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5080000" y="3873500"/>
            <a:ext cx="6096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4A4A4A"/>
                </a:solidFill>
                <a:latin typeface="Noto Sans SC"/>
                <a:ea typeface="Noto Sans SC"/>
                <a:cs typeface="Noto Sans SC"/>
                <a:sym typeface="Noto Sans SC"/>
              </a:rPr>
              <a:t>[正文段落内容...] 通过左右分栏的版式设计，可以有效地组织信息层级，引导观众的阅读视线从左侧的核心主题自然过渡到右侧的详细论据与解释，提升信息传达效率。</a:t>
            </a:r>
            <a:endParaRPr lang="en-US" sz="1100"/>
          </a:p>
        </p:txBody>
      </p:sp>
      <p:sp>
        <p:nvSpPr>
          <p:cNvPr name="AutoShape 10" id="10"/>
          <p:cNvSpPr/>
          <p:nvPr/>
        </p:nvSpPr>
        <p:spPr>
          <a:xfrm rot="0" flipH="false" flipV="false">
            <a:off x="0" y="6096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888888"/>
                </a:solidFill>
                <a:latin typeface="Noto Sans SC"/>
                <a:ea typeface="Noto Sans SC"/>
                <a:cs typeface="Noto Sans SC"/>
                <a:sym typeface="Noto Sans SC"/>
              </a:rPr>
              <a:t>[学校名称] | [课程名称] | [YYYY年MM月DD日]</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508000" y="381000"/>
            <a:ext cx="762000" cy="762000"/>
          </a:xfrm>
          <a:prstGeom prst="ellipse">
            <a:avLst/>
          </a:prstGeom>
          <a:noFill/>
          <a:ln w="25400" cmpd="sng" cap="flat">
            <a:noFill/>
            <a:prstDash val="solid"/>
            <a:round/>
          </a:ln>
        </p:spPr>
      </p:pic>
      <p:sp>
        <p:nvSpPr>
          <p:cNvPr name="AutoShape 4" id="4"/>
          <p:cNvSpPr/>
          <p:nvPr/>
        </p:nvSpPr>
        <p:spPr>
          <a:xfrm rot="0" flipH="false" flipV="false">
            <a:off x="1524000" y="5080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4080"/>
                </a:solidFill>
                <a:latin typeface="Noto Sans SC"/>
                <a:ea typeface="Noto Sans SC"/>
                <a:cs typeface="Noto Sans SC"/>
                <a:sym typeface="Noto Sans SC"/>
              </a:rPr>
              <a:t>[本节核心标题]</a:t>
            </a:r>
            <a:endParaRPr lang="en-US" sz="1100"/>
          </a:p>
        </p:txBody>
      </p:sp>
      <p:sp>
        <p:nvSpPr>
          <p:cNvPr name="AutoShape 5" id="5"/>
          <p:cNvSpPr/>
          <p:nvPr/>
        </p:nvSpPr>
        <p:spPr>
          <a:xfrm rot="0" flipH="false" flipV="false">
            <a:off x="1016000" y="1778000"/>
            <a:ext cx="4876800" cy="3556000"/>
          </a:xfrm>
          <a:prstGeom prst="roundRect">
            <a:avLst>
              <a:gd name="adj" fmla="val 4285"/>
            </a:avLst>
          </a:prstGeom>
          <a:solidFill>
            <a:srgbClr val="FFFFFF">
              <a:alpha val="90000"/>
            </a:srgbClr>
          </a:solidFill>
          <a:ln w="25400" cmpd="sng" cap="flat">
            <a:noFill/>
            <a:prstDash val="solid"/>
            <a:round/>
          </a:ln>
          <a:effectLst>
            <a:outerShdw dir="2700000" dist="50800" blurRad="2540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srcRect l="0" r="0" t="9706" b="9706"/>
          <a:stretch>
            <a:fillRect/>
          </a:stretch>
        </p:blipFill>
        <p:spPr>
          <a:xfrm rot="0" flipH="false" flipV="false">
            <a:off x="1143000" y="1905000"/>
            <a:ext cx="4622800" cy="2794000"/>
          </a:xfrm>
          <a:prstGeom prst="roundRect">
            <a:avLst>
              <a:gd name="adj" fmla="val 3636"/>
            </a:avLst>
          </a:prstGeom>
          <a:noFill/>
          <a:ln w="25400" cmpd="sng" cap="flat">
            <a:noFill/>
            <a:prstDash val="solid"/>
            <a:round/>
          </a:ln>
        </p:spPr>
      </p:pic>
      <p:sp>
        <p:nvSpPr>
          <p:cNvPr name="AutoShape 7" id="7"/>
          <p:cNvSpPr/>
          <p:nvPr/>
        </p:nvSpPr>
        <p:spPr>
          <a:xfrm rot="0" flipH="false" flipV="false">
            <a:off x="1143000" y="4826000"/>
            <a:ext cx="46228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888888"/>
                </a:solidFill>
                <a:latin typeface="Noto Sans SC"/>
                <a:ea typeface="Noto Sans SC"/>
                <a:cs typeface="Noto Sans SC"/>
                <a:sym typeface="Noto Sans SC"/>
              </a:rPr>
              <a:t>[图注：图片描述信息]</a:t>
            </a:r>
            <a:endParaRPr lang="en-US" sz="1100"/>
          </a:p>
        </p:txBody>
      </p:sp>
      <p:sp>
        <p:nvSpPr>
          <p:cNvPr name="AutoShape 8" id="8"/>
          <p:cNvSpPr/>
          <p:nvPr/>
        </p:nvSpPr>
        <p:spPr>
          <a:xfrm rot="0" flipH="false" flipV="false">
            <a:off x="6146800" y="1778000"/>
            <a:ext cx="5029200" cy="3556000"/>
          </a:xfrm>
          <a:prstGeom prst="roundRect">
            <a:avLst>
              <a:gd name="adj" fmla="val 4285"/>
            </a:avLst>
          </a:prstGeom>
          <a:solidFill>
            <a:srgbClr val="FFFFFF">
              <a:alpha val="95000"/>
            </a:srgbClr>
          </a:solidFill>
          <a:ln w="25400" cmpd="sng" cap="flat">
            <a:noFill/>
            <a:prstDash val="solid"/>
            <a:round/>
          </a:ln>
          <a:effectLst>
            <a:outerShdw dir="2700000" dist="508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00800" y="2032000"/>
            <a:ext cx="45212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A4A4A"/>
                </a:solidFill>
                <a:latin typeface="Noto Sans SC"/>
                <a:ea typeface="Noto Sans SC"/>
                <a:cs typeface="Noto Sans SC"/>
                <a:sym typeface="Noto Sans SC"/>
              </a:rPr>
              <a:t>这张图直观地展示了[图片所表达的概念]。通过视觉化的方式，我们可以更轻松地理解抽象的理论，将复杂的逻辑关系转化为直观的图形符号，降低认知门槛。</a:t>
            </a:r>
            <a:endParaRPr lang="en-US" sz="1100"/>
          </a:p>
        </p:txBody>
      </p:sp>
      <p:sp>
        <p:nvSpPr>
          <p:cNvPr name="AutoShape 10" id="10"/>
          <p:cNvSpPr/>
          <p:nvPr/>
        </p:nvSpPr>
        <p:spPr>
          <a:xfrm rot="0" flipH="false" flipV="false">
            <a:off x="6400800" y="3302000"/>
            <a:ext cx="4521200" cy="12700"/>
          </a:xfrm>
          <a:prstGeom prst="roundRect">
            <a:avLst>
              <a:gd name="adj" fmla="val 0"/>
            </a:avLst>
          </a:prstGeom>
          <a:solidFill>
            <a:srgbClr val="004080">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400800" y="3556000"/>
            <a:ext cx="45212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A4A4A"/>
                </a:solidFill>
                <a:latin typeface="Noto Sans SC"/>
                <a:ea typeface="Noto Sans SC"/>
                <a:cs typeface="Noto Sans SC"/>
                <a:sym typeface="Noto Sans SC"/>
              </a:rPr>
              <a:t>结合图像和文字，能够加深我们对知识点的记忆和理解。请大家仔细观察图片中的细节，对比右侧的理论推导过程，建立起“图”与“文”之间的深度关联。</a:t>
            </a:r>
            <a:endParaRPr lang="en-US" sz="1100"/>
          </a:p>
        </p:txBody>
      </p:sp>
      <p:sp>
        <p:nvSpPr>
          <p:cNvPr name="AutoShape 12" id="12"/>
          <p:cNvSpPr/>
          <p:nvPr/>
        </p:nvSpPr>
        <p:spPr>
          <a:xfrm rot="0" flipH="false" flipV="false">
            <a:off x="0" y="6159500"/>
            <a:ext cx="12192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646464"/>
                </a:solidFill>
                <a:latin typeface="Noto Sans SC"/>
                <a:ea typeface="Noto Sans SC"/>
                <a:cs typeface="Noto Sans SC"/>
                <a:sym typeface="Noto Sans SC"/>
              </a:rPr>
              <a:t>[学校名称] | [课程名称] | [YYYY年MM月DD日]</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508000" y="381000"/>
            <a:ext cx="1016000" cy="1016000"/>
          </a:xfrm>
          <a:prstGeom prst="rect">
            <a:avLst/>
          </a:prstGeom>
          <a:noFill/>
          <a:ln w="25400" cmpd="sng" cap="flat">
            <a:noFill/>
            <a:prstDash val="solid"/>
            <a:round/>
          </a:ln>
          <a:effectLst>
            <a:outerShdw dir="2700000" dist="25400" blurRad="101600" algn="tl" rotWithShape="false">
              <a:srgbClr val="000000">
                <a:alpha val="10000"/>
              </a:srgbClr>
            </a:outerShdw>
          </a:effectLst>
        </p:spPr>
      </p:pic>
      <p:sp>
        <p:nvSpPr>
          <p:cNvPr name="AutoShape 4" id="4"/>
          <p:cNvSpPr/>
          <p:nvPr/>
        </p:nvSpPr>
        <p:spPr>
          <a:xfrm rot="0" flipH="false" flipV="false">
            <a:off x="2032000" y="698500"/>
            <a:ext cx="889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4080"/>
                </a:solidFill>
                <a:latin typeface="Noto Sans SC"/>
                <a:ea typeface="Noto Sans SC"/>
                <a:cs typeface="Noto Sans SC"/>
                <a:sym typeface="Noto Sans SC"/>
              </a:rPr>
              <a:t>[本节核心标题]</a:t>
            </a:r>
            <a:endParaRPr lang="en-US" sz="1100"/>
          </a:p>
        </p:txBody>
      </p:sp>
      <p:pic>
        <p:nvPicPr>
          <p:cNvPr name="Picture 5" id="5"/>
          <p:cNvPicPr>
            <a:picLocks noChangeAspect="true"/>
          </p:cNvPicPr>
          <p:nvPr/>
        </p:nvPicPr>
        <p:blipFill>
          <a:blip r:embed="rId3"/>
          <a:srcRect l="0" r="0" t="30000" b="29999"/>
          <a:stretch>
            <a:fillRect/>
          </a:stretch>
        </p:blipFill>
        <p:spPr>
          <a:xfrm rot="0" flipH="false" flipV="false">
            <a:off x="1016000" y="1778000"/>
            <a:ext cx="10160000" cy="2286000"/>
          </a:xfrm>
          <a:prstGeom prst="roundRect">
            <a:avLst>
              <a:gd name="adj" fmla="val 6666"/>
            </a:avLst>
          </a:prstGeom>
          <a:noFill/>
          <a:ln w="25400" cmpd="sng" cap="flat">
            <a:noFill/>
            <a:prstDash val="solid"/>
            <a:round/>
          </a:ln>
          <a:effectLst>
            <a:outerShdw dir="2700000" dist="63500" blurRad="190500" algn="tl" rotWithShape="false">
              <a:srgbClr val="004080">
                <a:alpha val="15000"/>
              </a:srgbClr>
            </a:outerShdw>
          </a:effectLst>
        </p:spPr>
      </p:pic>
      <p:sp>
        <p:nvSpPr>
          <p:cNvPr name="AutoShape 6" id="6"/>
          <p:cNvSpPr/>
          <p:nvPr/>
        </p:nvSpPr>
        <p:spPr>
          <a:xfrm rot="0" flipH="false" flipV="false">
            <a:off x="1016000" y="4191000"/>
            <a:ext cx="1016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888888"/>
                </a:solidFill>
                <a:latin typeface="Noto Sans SC"/>
                <a:ea typeface="Noto Sans SC"/>
                <a:cs typeface="Noto Sans SC"/>
                <a:sym typeface="Noto Sans SC"/>
              </a:rPr>
              <a:t>[图注：图片描述信息]</a:t>
            </a:r>
            <a:endParaRPr lang="en-US" sz="1100"/>
          </a:p>
        </p:txBody>
      </p:sp>
      <p:sp>
        <p:nvSpPr>
          <p:cNvPr name="AutoShape 7" id="7"/>
          <p:cNvSpPr/>
          <p:nvPr/>
        </p:nvSpPr>
        <p:spPr>
          <a:xfrm rot="0" flipH="false" flipV="false">
            <a:off x="1016000" y="4826000"/>
            <a:ext cx="4953000" cy="1143000"/>
          </a:xfrm>
          <a:prstGeom prst="roundRect">
            <a:avLst>
              <a:gd name="adj" fmla="val 11111"/>
            </a:avLst>
          </a:prstGeom>
          <a:solidFill>
            <a:srgbClr val="E6F0FF">
              <a:alpha val="90000"/>
            </a:srgbClr>
          </a:solidFill>
          <a:ln w="12700" cmpd="sng" cap="flat">
            <a:solidFill>
              <a:srgbClr val="004080">
                <a:alpha val="1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270000" y="4953000"/>
            <a:ext cx="4445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A4A4A"/>
                </a:solidFill>
                <a:latin typeface="Noto Sans SC"/>
                <a:ea typeface="Noto Sans SC"/>
                <a:cs typeface="Noto Sans SC"/>
                <a:sym typeface="Noto Sans SC"/>
              </a:rPr>
              <a:t>[正文段落内容...] 这张宽幅图展示了一个宏观的视角或流程。下方的文字将对图中的关键节点进行详细阐述，帮助大家建立起对整体框架的认知。</a:t>
            </a:r>
            <a:endParaRPr lang="en-US" sz="1100"/>
          </a:p>
        </p:txBody>
      </p:sp>
      <p:sp>
        <p:nvSpPr>
          <p:cNvPr name="AutoShape 9" id="9"/>
          <p:cNvSpPr/>
          <p:nvPr/>
        </p:nvSpPr>
        <p:spPr>
          <a:xfrm rot="0" flipH="false" flipV="false">
            <a:off x="6223000" y="4826000"/>
            <a:ext cx="4953000" cy="1143000"/>
          </a:xfrm>
          <a:prstGeom prst="roundRect">
            <a:avLst>
              <a:gd name="adj" fmla="val 11111"/>
            </a:avLst>
          </a:prstGeom>
          <a:solidFill>
            <a:srgbClr val="E6F0FF">
              <a:alpha val="90000"/>
            </a:srgbClr>
          </a:solidFill>
          <a:ln w="12700" cmpd="sng" cap="flat">
            <a:solidFill>
              <a:srgbClr val="004080">
                <a:alpha val="1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477000" y="4953000"/>
            <a:ext cx="4445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A4A4A"/>
                </a:solidFill>
                <a:latin typeface="Noto Sans SC"/>
                <a:ea typeface="Noto Sans SC"/>
                <a:cs typeface="Noto Sans SC"/>
                <a:sym typeface="Noto Sans SC"/>
              </a:rPr>
              <a:t>[正文段落内容...] 通过这种“先见林，后见树”的布局，我们可以先建立一个整体的宏观印象，再层层深入到具体的技术细节中去，确保知识体系的连贯性。</a:t>
            </a:r>
            <a:endParaRPr lang="en-US" sz="1100"/>
          </a:p>
        </p:txBody>
      </p:sp>
      <p:sp>
        <p:nvSpPr>
          <p:cNvPr name="AutoShape 11" id="11"/>
          <p:cNvSpPr/>
          <p:nvPr/>
        </p:nvSpPr>
        <p:spPr>
          <a:xfrm rot="0" flipH="false" flipV="false">
            <a:off x="0" y="6223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888888"/>
                </a:solidFill>
                <a:latin typeface="Noto Sans SC"/>
                <a:ea typeface="Noto Sans SC"/>
                <a:cs typeface="Noto Sans SC"/>
                <a:sym typeface="Noto Sans SC"/>
              </a:rPr>
              <a:t>[学校名称] | [课程名称] | [YYYY年MM月DD日]</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508000" y="381000"/>
            <a:ext cx="1016000" cy="1016000"/>
          </a:xfrm>
          <a:prstGeom prst="roundRect">
            <a:avLst>
              <a:gd name="adj" fmla="val 20000"/>
            </a:avLst>
          </a:prstGeom>
          <a:noFill/>
          <a:ln w="25400" cmpd="sng" cap="flat">
            <a:noFill/>
            <a:prstDash val="solid"/>
            <a:round/>
          </a:ln>
        </p:spPr>
      </p:pic>
      <p:sp>
        <p:nvSpPr>
          <p:cNvPr name="AutoShape 4" id="4"/>
          <p:cNvSpPr/>
          <p:nvPr/>
        </p:nvSpPr>
        <p:spPr>
          <a:xfrm rot="0" flipH="false" flipV="false">
            <a:off x="1778000" y="571500"/>
            <a:ext cx="762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4080"/>
                </a:solidFill>
                <a:latin typeface="Noto Sans SC"/>
                <a:ea typeface="Noto Sans SC"/>
                <a:cs typeface="Noto Sans SC"/>
                <a:sym typeface="Noto Sans SC"/>
              </a:rPr>
              <a:t>SUMMARY / 本章小结</a:t>
            </a:r>
            <a:endParaRPr lang="en-US" sz="1100"/>
          </a:p>
        </p:txBody>
      </p:sp>
      <p:sp>
        <p:nvSpPr>
          <p:cNvPr name="AutoShape 5" id="5"/>
          <p:cNvSpPr/>
          <p:nvPr/>
        </p:nvSpPr>
        <p:spPr>
          <a:xfrm rot="0" flipH="false" flipV="false">
            <a:off x="1270000" y="1905000"/>
            <a:ext cx="9652000" cy="1143000"/>
          </a:xfrm>
          <a:prstGeom prst="roundRect">
            <a:avLst>
              <a:gd name="adj" fmla="val 13333"/>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1524000" y="2095500"/>
            <a:ext cx="762000" cy="762000"/>
          </a:xfrm>
          <a:prstGeom prst="ellipse">
            <a:avLst/>
          </a:prstGeom>
          <a:solidFill>
            <a:srgbClr val="0040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524000" y="2222500"/>
            <a:ext cx="76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5A623"/>
                </a:solidFill>
                <a:latin typeface="Roboto"/>
                <a:ea typeface="Roboto"/>
                <a:cs typeface="Roboto"/>
                <a:sym typeface="Roboto"/>
              </a:rPr>
              <a:t>01</a:t>
            </a:r>
            <a:endParaRPr lang="en-US" sz="1100"/>
          </a:p>
        </p:txBody>
      </p:sp>
      <p:sp>
        <p:nvSpPr>
          <p:cNvPr name="AutoShape 8" id="8"/>
          <p:cNvSpPr/>
          <p:nvPr/>
        </p:nvSpPr>
        <p:spPr>
          <a:xfrm rot="0" flipH="false" flipV="false">
            <a:off x="2667000" y="2095500"/>
            <a:ext cx="787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4080"/>
                </a:solidFill>
                <a:latin typeface="Noto Sans SC"/>
                <a:ea typeface="Noto Sans SC"/>
                <a:cs typeface="Noto Sans SC"/>
                <a:sym typeface="Noto Sans SC"/>
              </a:rPr>
              <a:t>核心概念 A 的掌握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555555"/>
                </a:solidFill>
                <a:latin typeface="Noto Sans SC"/>
                <a:ea typeface="Noto Sans SC"/>
                <a:cs typeface="Noto Sans SC"/>
                <a:sym typeface="Noto Sans SC"/>
              </a:rPr>
              <a:t>深入理解了核心概念的定义内涵，并能在不同的学术场景中进行准确的界定与初步应用。</a:t>
            </a:r>
          </a:p>
        </p:txBody>
      </p:sp>
      <p:sp>
        <p:nvSpPr>
          <p:cNvPr name="AutoShape 9" id="9"/>
          <p:cNvSpPr/>
          <p:nvPr/>
        </p:nvSpPr>
        <p:spPr>
          <a:xfrm rot="0" flipH="false" flipV="false">
            <a:off x="1270000" y="3302000"/>
            <a:ext cx="9652000" cy="1143000"/>
          </a:xfrm>
          <a:prstGeom prst="roundRect">
            <a:avLst>
              <a:gd name="adj" fmla="val 13333"/>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524000" y="3492500"/>
            <a:ext cx="762000" cy="762000"/>
          </a:xfrm>
          <a:prstGeom prst="ellipse">
            <a:avLst/>
          </a:prstGeom>
          <a:solidFill>
            <a:srgbClr val="0040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524000" y="3619500"/>
            <a:ext cx="76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5A623"/>
                </a:solidFill>
                <a:latin typeface="Roboto"/>
                <a:ea typeface="Roboto"/>
                <a:cs typeface="Roboto"/>
                <a:sym typeface="Roboto"/>
              </a:rPr>
              <a:t>02</a:t>
            </a:r>
            <a:endParaRPr lang="en-US" sz="1100"/>
          </a:p>
        </p:txBody>
      </p:sp>
      <p:sp>
        <p:nvSpPr>
          <p:cNvPr name="AutoShape 12" id="12"/>
          <p:cNvSpPr/>
          <p:nvPr/>
        </p:nvSpPr>
        <p:spPr>
          <a:xfrm rot="0" flipH="false" flipV="false">
            <a:off x="2667000" y="3492500"/>
            <a:ext cx="787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4080"/>
                </a:solidFill>
                <a:latin typeface="Noto Sans SC"/>
                <a:ea typeface="Noto Sans SC"/>
                <a:cs typeface="Noto Sans SC"/>
                <a:sym typeface="Noto Sans SC"/>
              </a:rPr>
              <a:t>理论 B 的深度推导</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555555"/>
                </a:solidFill>
                <a:latin typeface="Noto Sans SC"/>
                <a:ea typeface="Noto Sans SC"/>
                <a:cs typeface="Noto Sans SC"/>
                <a:sym typeface="Noto Sans SC"/>
              </a:rPr>
              <a:t>梳理了理论的完整推导逻辑链条，重点掌握了其成立的关键假设条件与适用边界范围。</a:t>
            </a:r>
          </a:p>
        </p:txBody>
      </p:sp>
      <p:sp>
        <p:nvSpPr>
          <p:cNvPr name="AutoShape 13" id="13"/>
          <p:cNvSpPr/>
          <p:nvPr/>
        </p:nvSpPr>
        <p:spPr>
          <a:xfrm rot="0" flipH="false" flipV="false">
            <a:off x="1270000" y="4699000"/>
            <a:ext cx="9652000" cy="1143000"/>
          </a:xfrm>
          <a:prstGeom prst="roundRect">
            <a:avLst>
              <a:gd name="adj" fmla="val 13333"/>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524000" y="4889500"/>
            <a:ext cx="762000" cy="762000"/>
          </a:xfrm>
          <a:prstGeom prst="ellipse">
            <a:avLst/>
          </a:prstGeom>
          <a:solidFill>
            <a:srgbClr val="0040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524000" y="5016500"/>
            <a:ext cx="76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5A623"/>
                </a:solidFill>
                <a:latin typeface="Roboto"/>
                <a:ea typeface="Roboto"/>
                <a:cs typeface="Roboto"/>
                <a:sym typeface="Roboto"/>
              </a:rPr>
              <a:t>03</a:t>
            </a:r>
            <a:endParaRPr lang="en-US" sz="1100"/>
          </a:p>
        </p:txBody>
      </p:sp>
      <p:sp>
        <p:nvSpPr>
          <p:cNvPr name="AutoShape 16" id="16"/>
          <p:cNvSpPr/>
          <p:nvPr/>
        </p:nvSpPr>
        <p:spPr>
          <a:xfrm rot="0" flipH="false" flipV="false">
            <a:off x="2667000" y="4889500"/>
            <a:ext cx="787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4080"/>
                </a:solidFill>
                <a:latin typeface="Noto Sans SC"/>
                <a:ea typeface="Noto Sans SC"/>
                <a:cs typeface="Noto Sans SC"/>
                <a:sym typeface="Noto Sans SC"/>
              </a:rPr>
              <a:t>方法 C 的实践应用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555555"/>
                </a:solidFill>
                <a:latin typeface="Noto Sans SC"/>
                <a:ea typeface="Noto Sans SC"/>
                <a:cs typeface="Noto Sans SC"/>
                <a:sym typeface="Noto Sans SC"/>
              </a:rPr>
              <a:t>学会了运用标准方法框架拆解问题，能够独立完成简单的实际案例分析与解决方案构建。</a:t>
            </a:r>
          </a:p>
        </p:txBody>
      </p:sp>
      <p:sp>
        <p:nvSpPr>
          <p:cNvPr name="AutoShape 17" id="17"/>
          <p:cNvSpPr/>
          <p:nvPr/>
        </p:nvSpPr>
        <p:spPr>
          <a:xfrm rot="0" flipH="false" flipV="false">
            <a:off x="0" y="61595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6E6E6E"/>
                </a:solidFill>
                <a:latin typeface="Noto Sans SC"/>
                <a:ea typeface="Noto Sans SC"/>
                <a:cs typeface="Noto Sans SC"/>
                <a:sym typeface="Noto Sans SC"/>
              </a:rPr>
              <a:t>XX 理工大学 | 数据结构与算法导论 | 2026 年 05 月 20 日</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508000" y="381000"/>
            <a:ext cx="1270000" cy="1270000"/>
          </a:xfrm>
          <a:prstGeom prst="rect">
            <a:avLst/>
          </a:prstGeom>
          <a:noFill/>
          <a:ln w="25400" cmpd="sng" cap="flat">
            <a:noFill/>
            <a:prstDash val="solid"/>
            <a:round/>
          </a:ln>
        </p:spPr>
      </p:pic>
      <p:sp>
        <p:nvSpPr>
          <p:cNvPr name="AutoShape 4" id="4"/>
          <p:cNvSpPr/>
          <p:nvPr/>
        </p:nvSpPr>
        <p:spPr>
          <a:xfrm rot="0" flipH="false" flipV="false">
            <a:off x="2032000" y="762000"/>
            <a:ext cx="889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4080"/>
                </a:solidFill>
                <a:latin typeface="Noto Sans SC"/>
                <a:ea typeface="Noto Sans SC"/>
                <a:cs typeface="Noto Sans SC"/>
                <a:sym typeface="Noto Sans SC"/>
              </a:rPr>
              <a:t>ASSIGNMENT / 课后作业</a:t>
            </a:r>
            <a:endParaRPr lang="en-US" sz="1100"/>
          </a:p>
        </p:txBody>
      </p:sp>
      <p:sp>
        <p:nvSpPr>
          <p:cNvPr name="AutoShape 5" id="5"/>
          <p:cNvSpPr/>
          <p:nvPr/>
        </p:nvSpPr>
        <p:spPr>
          <a:xfrm rot="0" flipH="false" flipV="false">
            <a:off x="1016000" y="2032000"/>
            <a:ext cx="10160000" cy="1397000"/>
          </a:xfrm>
          <a:prstGeom prst="roundRect">
            <a:avLst>
              <a:gd name="adj" fmla="val 10909"/>
            </a:avLst>
          </a:prstGeom>
          <a:solidFill>
            <a:srgbClr val="FFFFFF">
              <a:alpha val="95000"/>
            </a:srgbClr>
          </a:solidFill>
          <a:ln w="25400" cmpd="sng" cap="flat">
            <a:noFill/>
            <a:prstDash val="solid"/>
            <a:round/>
          </a:ln>
          <a:effectLst>
            <a:outerShdw dir="2700000" dist="50800" blurRad="203200" algn="tl" rotWithShape="false">
              <a:srgbClr val="004080">
                <a:alpha val="12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397000" y="2349500"/>
            <a:ext cx="609600" cy="609600"/>
          </a:xfrm>
          <a:prstGeom prst="rect">
            <a:avLst/>
          </a:prstGeom>
        </p:spPr>
      </p:pic>
      <p:sp>
        <p:nvSpPr>
          <p:cNvPr name="AutoShape 7" id="7"/>
          <p:cNvSpPr/>
          <p:nvPr/>
        </p:nvSpPr>
        <p:spPr>
          <a:xfrm rot="0" flipH="false" flipV="false">
            <a:off x="2286000" y="2286000"/>
            <a:ext cx="838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4080"/>
                </a:solidFill>
                <a:latin typeface="Noto Sans SC"/>
                <a:ea typeface="Noto Sans SC"/>
                <a:cs typeface="Noto Sans SC"/>
                <a:sym typeface="Noto Sans SC"/>
              </a:rPr>
              <a:t>作业一：课程核心概念深度解析</a:t>
            </a:r>
            <a:endParaRPr lang="en-US" sz="1100"/>
          </a:p>
        </p:txBody>
      </p:sp>
      <p:sp>
        <p:nvSpPr>
          <p:cNvPr name="AutoShape 8" id="8"/>
          <p:cNvSpPr/>
          <p:nvPr/>
        </p:nvSpPr>
        <p:spPr>
          <a:xfrm rot="0" flipH="false" flipV="false">
            <a:off x="2286000" y="2794000"/>
            <a:ext cx="838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4A4A4A"/>
                </a:solidFill>
                <a:latin typeface="Noto Sans SC"/>
                <a:ea typeface="Noto Sans SC"/>
                <a:cs typeface="Noto Sans SC"/>
                <a:sym typeface="Noto Sans SC"/>
              </a:rPr>
              <a:t>请结合本周课堂讲授的理论框架，选取一个具体的学术案例进行深度分析。要求逻辑清晰，论据充分，字数不少于800字，需包含至少2个引用文献。</a:t>
            </a:r>
            <a:endParaRPr lang="en-US" sz="1100"/>
          </a:p>
        </p:txBody>
      </p:sp>
      <p:sp>
        <p:nvSpPr>
          <p:cNvPr name="AutoShape 9" id="9"/>
          <p:cNvSpPr/>
          <p:nvPr/>
        </p:nvSpPr>
        <p:spPr>
          <a:xfrm rot="0" flipH="false" flipV="false">
            <a:off x="1016000" y="3683000"/>
            <a:ext cx="10160000" cy="1397000"/>
          </a:xfrm>
          <a:prstGeom prst="roundRect">
            <a:avLst>
              <a:gd name="adj" fmla="val 10909"/>
            </a:avLst>
          </a:prstGeom>
          <a:solidFill>
            <a:srgbClr val="FFFFFF">
              <a:alpha val="95000"/>
            </a:srgbClr>
          </a:solidFill>
          <a:ln w="25400" cmpd="sng" cap="flat">
            <a:noFill/>
            <a:prstDash val="solid"/>
            <a:round/>
          </a:ln>
          <a:effectLst>
            <a:outerShdw dir="2700000" dist="50800" blurRad="203200" algn="tl" rotWithShape="false">
              <a:srgbClr val="004080">
                <a:alpha val="12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397000" y="4000500"/>
            <a:ext cx="609600" cy="609600"/>
          </a:xfrm>
          <a:prstGeom prst="rect">
            <a:avLst/>
          </a:prstGeom>
        </p:spPr>
      </p:pic>
      <p:sp>
        <p:nvSpPr>
          <p:cNvPr name="AutoShape 11" id="11"/>
          <p:cNvSpPr/>
          <p:nvPr/>
        </p:nvSpPr>
        <p:spPr>
          <a:xfrm rot="0" flipH="false" flipV="false">
            <a:off x="2286000" y="3937000"/>
            <a:ext cx="838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4080"/>
                </a:solidFill>
                <a:latin typeface="Noto Sans SC"/>
                <a:ea typeface="Noto Sans SC"/>
                <a:cs typeface="Noto Sans SC"/>
                <a:sym typeface="Noto Sans SC"/>
              </a:rPr>
              <a:t>作业二：小组协作实践报告</a:t>
            </a:r>
            <a:endParaRPr lang="en-US" sz="1100"/>
          </a:p>
        </p:txBody>
      </p:sp>
      <p:sp>
        <p:nvSpPr>
          <p:cNvPr name="AutoShape 12" id="12"/>
          <p:cNvSpPr/>
          <p:nvPr/>
        </p:nvSpPr>
        <p:spPr>
          <a:xfrm rot="0" flipH="false" flipV="false">
            <a:off x="2286000" y="4445000"/>
            <a:ext cx="838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4A4A4A"/>
                </a:solidFill>
                <a:latin typeface="Noto Sans SC"/>
                <a:ea typeface="Noto Sans SC"/>
                <a:cs typeface="Noto Sans SC"/>
                <a:sym typeface="Noto Sans SC"/>
              </a:rPr>
              <a:t>以小组（3-4人）为单位，完成一个微型研究项目的计划书。内容需涵盖研究背景、研究方法、预期成果及分工明细。请在下次课前提交纸质版计划书。</a:t>
            </a:r>
            <a:endParaRPr lang="en-US" sz="1100"/>
          </a:p>
        </p:txBody>
      </p:sp>
      <p:sp>
        <p:nvSpPr>
          <p:cNvPr name="AutoShape 13" id="13"/>
          <p:cNvSpPr/>
          <p:nvPr/>
        </p:nvSpPr>
        <p:spPr>
          <a:xfrm rot="0" flipH="false" flipV="false">
            <a:off x="1016000" y="5334000"/>
            <a:ext cx="10160000" cy="584200"/>
          </a:xfrm>
          <a:prstGeom prst="roundRect">
            <a:avLst>
              <a:gd name="adj" fmla="val 50000"/>
            </a:avLst>
          </a:prstGeom>
          <a:solidFill>
            <a:srgbClr val="FFF5F5">
              <a:alpha val="100000"/>
            </a:srgbClr>
          </a:solidFill>
          <a:ln w="12700" cmpd="sng" cap="flat">
            <a:solidFill>
              <a:srgbClr val="D0021B">
                <a:alpha val="3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5410200"/>
            <a:ext cx="10160000" cy="431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D0021B"/>
                </a:solidFill>
                <a:latin typeface="Noto Sans SC"/>
                <a:ea typeface="Noto Sans SC"/>
                <a:cs typeface="Noto Sans SC"/>
                <a:sym typeface="Noto Sans SC"/>
              </a:rPr>
              <a:t>⚠️ 提交截止日期: 2026年05月20日 | 提交方式: 课程学习平台 (Word/PDF格式)</a:t>
            </a:r>
            <a:endParaRPr lang="en-US" sz="1100"/>
          </a:p>
        </p:txBody>
      </p:sp>
      <p:sp>
        <p:nvSpPr>
          <p:cNvPr name="AutoShape 15" id="15"/>
          <p:cNvSpPr/>
          <p:nvPr/>
        </p:nvSpPr>
        <p:spPr>
          <a:xfrm rot="0" flipH="false" flipV="false">
            <a:off x="0" y="6223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888888"/>
                </a:solidFill>
                <a:latin typeface="Noto Sans SC"/>
                <a:ea typeface="Noto Sans SC"/>
                <a:cs typeface="Noto Sans SC"/>
                <a:sym typeface="Noto Sans SC"/>
              </a:rPr>
              <a:t>XX 理工大学 | 学术研究方法论 | 2026年05月</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508000" y="381000"/>
            <a:ext cx="1270000" cy="1270000"/>
          </a:xfrm>
          <a:prstGeom prst="rect">
            <a:avLst/>
          </a:prstGeom>
          <a:noFill/>
          <a:ln w="25400" cmpd="sng" cap="flat">
            <a:noFill/>
            <a:prstDash val="solid"/>
            <a:round/>
          </a:ln>
        </p:spPr>
      </p:pic>
      <p:sp>
        <p:nvSpPr>
          <p:cNvPr name="AutoShape 3" id="3"/>
          <p:cNvSpPr/>
          <p:nvPr/>
        </p:nvSpPr>
        <p:spPr>
          <a:xfrm rot="0" flipH="false" flipV="false">
            <a:off x="0" y="2286000"/>
            <a:ext cx="12192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004080"/>
                </a:solidFill>
                <a:latin typeface="Noto Sans SC"/>
                <a:ea typeface="Noto Sans SC"/>
                <a:cs typeface="Noto Sans SC"/>
                <a:sym typeface="Noto Sans SC"/>
              </a:rPr>
              <a:t>Q &amp; A</a:t>
            </a:r>
            <a:endParaRPr lang="en-US" sz="1100"/>
          </a:p>
        </p:txBody>
      </p:sp>
      <p:sp>
        <p:nvSpPr>
          <p:cNvPr name="AutoShape 4" id="4"/>
          <p:cNvSpPr/>
          <p:nvPr/>
        </p:nvSpPr>
        <p:spPr>
          <a:xfrm rot="0" flipH="false" flipV="false">
            <a:off x="0" y="3556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333333"/>
                </a:solidFill>
                <a:latin typeface="Noto Sans SC"/>
                <a:ea typeface="Noto Sans SC"/>
                <a:cs typeface="Noto Sans SC"/>
                <a:sym typeface="Noto Sans SC"/>
              </a:rPr>
              <a:t>感谢聆听！</a:t>
            </a:r>
            <a:endParaRPr lang="en-US" sz="1100"/>
          </a:p>
        </p:txBody>
      </p:sp>
      <p:sp>
        <p:nvSpPr>
          <p:cNvPr name="AutoShape 5" id="5"/>
          <p:cNvSpPr/>
          <p:nvPr/>
        </p:nvSpPr>
        <p:spPr>
          <a:xfrm rot="0" flipH="false" flipV="false">
            <a:off x="0" y="4699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888888"/>
                </a:solidFill>
                <a:latin typeface="Noto Sans SC"/>
                <a:ea typeface="Noto Sans SC"/>
                <a:cs typeface="Noto Sans SC"/>
                <a:sym typeface="Noto Sans SC"/>
              </a:rPr>
              <a:t>[教师姓名] | [邮箱地址] | [个人主页/课程网站]</a:t>
            </a:r>
            <a:endParaRPr lang="en-US" sz="1100"/>
          </a:p>
        </p:txBody>
      </p:sp>
      <p:sp>
        <p:nvSpPr>
          <p:cNvPr name="AutoShape 6" id="6"/>
          <p:cNvSpPr/>
          <p:nvPr/>
        </p:nvSpPr>
        <p:spPr>
          <a:xfrm rot="0" flipH="false" flipV="false">
            <a:off x="0" y="5969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888888"/>
                </a:solidFill>
                <a:latin typeface="Noto Sans SC"/>
                <a:ea typeface="Noto Sans SC"/>
                <a:cs typeface="Noto Sans SC"/>
                <a:sym typeface="Noto Sans SC"/>
              </a:rPr>
              <a:t>[学校名称] | [课程名称] | [YYYY年MM月DD日]</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508000" y="381000"/>
            <a:ext cx="1016000" cy="1016000"/>
          </a:xfrm>
          <a:prstGeom prst="rect">
            <a:avLst/>
          </a:prstGeom>
          <a:noFill/>
          <a:ln w="25400" cmpd="sng" cap="flat">
            <a:noFill/>
            <a:prstDash val="solid"/>
            <a:round/>
          </a:ln>
        </p:spPr>
      </p:pic>
      <p:sp>
        <p:nvSpPr>
          <p:cNvPr name="AutoShape 4" id="4"/>
          <p:cNvSpPr/>
          <p:nvPr/>
        </p:nvSpPr>
        <p:spPr>
          <a:xfrm rot="0" flipH="false" flipV="false">
            <a:off x="2032000" y="698500"/>
            <a:ext cx="8890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4080"/>
                </a:solidFill>
                <a:latin typeface="Noto Sans SC"/>
                <a:ea typeface="Noto Sans SC"/>
                <a:cs typeface="Noto Sans SC"/>
                <a:sym typeface="Noto Sans SC"/>
              </a:rPr>
              <a:t>[本节核心标题]</a:t>
            </a:r>
            <a:endParaRPr lang="en-US" sz="1100"/>
          </a:p>
        </p:txBody>
      </p:sp>
      <p:sp>
        <p:nvSpPr>
          <p:cNvPr name="AutoShape 5" id="5"/>
          <p:cNvSpPr/>
          <p:nvPr/>
        </p:nvSpPr>
        <p:spPr>
          <a:xfrm rot="0" flipH="false" flipV="false">
            <a:off x="1016000" y="2032000"/>
            <a:ext cx="5080000" cy="1778000"/>
          </a:xfrm>
          <a:prstGeom prst="roundRect">
            <a:avLst>
              <a:gd name="adj" fmla="val 8571"/>
            </a:avLst>
          </a:prstGeom>
          <a:solidFill>
            <a:srgbClr val="FFFFFF">
              <a:alpha val="95000"/>
            </a:srgbClr>
          </a:solidFill>
          <a:ln w="12700" cmpd="sng" cap="flat">
            <a:solidFill>
              <a:srgbClr val="004080">
                <a:alpha val="20000"/>
              </a:srgbClr>
            </a:solidFill>
            <a:prstDash val="solid"/>
            <a:round/>
          </a:ln>
          <a:effectLst>
            <a:outerShdw dir="2700000" dist="50800" blurRad="1524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032000"/>
            <a:ext cx="5080000" cy="76200"/>
          </a:xfrm>
          <a:prstGeom prst="roundRect">
            <a:avLst>
              <a:gd name="adj" fmla="val 0"/>
            </a:avLst>
          </a:prstGeom>
          <a:solidFill>
            <a:srgbClr val="0040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270000" y="2349500"/>
            <a:ext cx="4572000" cy="1143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300">
                <a:solidFill>
                  <a:srgbClr val="4A4A4A"/>
                </a:solidFill>
                <a:latin typeface="Noto Sans SC"/>
                <a:ea typeface="Noto Sans SC"/>
                <a:cs typeface="Noto Sans SC"/>
                <a:sym typeface="Noto Sans SC"/>
              </a:rPr>
              <a:t>[核心概念阐述] 这是一个备用的纯文本内容页，用于展示大量的文字信息。布局采用了卡片式设计，既保证了简洁性，又通过阴影和边框强化了内容的层次感，让观众能快速聚焦于核心观点。</a:t>
            </a:r>
            <a:endParaRPr lang="en-US" sz="1100"/>
          </a:p>
        </p:txBody>
      </p:sp>
      <p:sp>
        <p:nvSpPr>
          <p:cNvPr name="AutoShape 8" id="8"/>
          <p:cNvSpPr/>
          <p:nvPr/>
        </p:nvSpPr>
        <p:spPr>
          <a:xfrm rot="0" flipH="false" flipV="false">
            <a:off x="6350000" y="2032000"/>
            <a:ext cx="4826000" cy="1778000"/>
          </a:xfrm>
          <a:prstGeom prst="roundRect">
            <a:avLst>
              <a:gd name="adj" fmla="val 8571"/>
            </a:avLst>
          </a:prstGeom>
          <a:solidFill>
            <a:srgbClr val="FFFFFF">
              <a:alpha val="95000"/>
            </a:srgbClr>
          </a:solidFill>
          <a:ln w="12700" cmpd="sng" cap="flat">
            <a:solidFill>
              <a:srgbClr val="004080">
                <a:alpha val="20000"/>
              </a:srgbClr>
            </a:solidFill>
            <a:prstDash val="solid"/>
            <a:round/>
          </a:ln>
          <a:effectLst>
            <a:outerShdw dir="2700000" dist="50800" blurRad="1524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350000" y="2032000"/>
            <a:ext cx="4826000" cy="76200"/>
          </a:xfrm>
          <a:prstGeom prst="roundRect">
            <a:avLst>
              <a:gd name="adj" fmla="val 0"/>
            </a:avLst>
          </a:prstGeom>
          <a:solidFill>
            <a:srgbClr val="0040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604000" y="2349500"/>
            <a:ext cx="4318000" cy="1143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300">
                <a:solidFill>
                  <a:srgbClr val="4A4A4A"/>
                </a:solidFill>
                <a:latin typeface="Noto Sans SC"/>
                <a:ea typeface="Noto Sans SC"/>
                <a:cs typeface="Noto Sans SC"/>
                <a:sym typeface="Noto Sans SC"/>
              </a:rPr>
              <a:t>[理论延伸与应用] 可以根据实际课程进度添加多个段落，详细阐述某个具体的知识点或理论模型。建议配合具体的案例数据或图表，使抽象的学术内容变得更加直观易懂。</a:t>
            </a:r>
            <a:endParaRPr lang="en-US" sz="1100"/>
          </a:p>
        </p:txBody>
      </p:sp>
      <p:sp>
        <p:nvSpPr>
          <p:cNvPr name="AutoShape 11" id="11"/>
          <p:cNvSpPr/>
          <p:nvPr/>
        </p:nvSpPr>
        <p:spPr>
          <a:xfrm rot="0" flipH="false" flipV="false">
            <a:off x="1016000" y="4191000"/>
            <a:ext cx="10160000" cy="1270000"/>
          </a:xfrm>
          <a:prstGeom prst="roundRect">
            <a:avLst>
              <a:gd name="adj" fmla="val 12000"/>
            </a:avLst>
          </a:prstGeom>
          <a:solidFill>
            <a:srgbClr val="FFFFFF">
              <a:alpha val="95000"/>
            </a:srgbClr>
          </a:solidFill>
          <a:ln w="12700" cmpd="sng" cap="flat">
            <a:solidFill>
              <a:srgbClr val="004080">
                <a:alpha val="20000"/>
              </a:srgbClr>
            </a:solidFill>
            <a:prstDash val="solid"/>
            <a:round/>
          </a:ln>
          <a:effectLst>
            <a:outerShdw dir="2700000" dist="50800" blurRad="1524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016000" y="4191000"/>
            <a:ext cx="10160000" cy="76200"/>
          </a:xfrm>
          <a:prstGeom prst="roundRect">
            <a:avLst>
              <a:gd name="adj" fmla="val 0"/>
            </a:avLst>
          </a:prstGeom>
          <a:solidFill>
            <a:srgbClr val="0040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270000" y="4445000"/>
            <a:ext cx="9652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300">
                <a:solidFill>
                  <a:srgbClr val="4A4A4A"/>
                </a:solidFill>
                <a:latin typeface="Noto Sans SC"/>
                <a:ea typeface="Noto Sans SC"/>
                <a:cs typeface="Noto Sans SC"/>
                <a:sym typeface="Noto Sans SC"/>
              </a:rPr>
              <a:t>[本节重点总结] 本章节的核心目标是建立系统化的知识框架。请大家在课后结合参考文献，对上述理论进行深度的对比与思考。重点关注不同理论模型在实际场景中的适用性差异，这将是我们下一阶段研讨的主要议题。</a:t>
            </a:r>
            <a:endParaRPr lang="en-US" sz="1100"/>
          </a:p>
        </p:txBody>
      </p:sp>
      <p:sp>
        <p:nvSpPr>
          <p:cNvPr name="AutoShape 14" id="14"/>
          <p:cNvSpPr/>
          <p:nvPr/>
        </p:nvSpPr>
        <p:spPr>
          <a:xfrm rot="0" flipH="false" flipV="false">
            <a:off x="0" y="6096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888888"/>
                </a:solidFill>
                <a:latin typeface="Noto Sans SC"/>
                <a:ea typeface="Noto Sans SC"/>
                <a:cs typeface="Noto Sans SC"/>
                <a:sym typeface="Noto Sans SC"/>
              </a:rPr>
              <a:t>[学校名称] | [课程名称] | [YYYY年MM月DD日]</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508000" y="381000"/>
            <a:ext cx="1270000" cy="1270000"/>
          </a:xfrm>
          <a:prstGeom prst="rect">
            <a:avLst/>
          </a:prstGeom>
          <a:noFill/>
          <a:ln w="25400" cmpd="sng" cap="flat">
            <a:noFill/>
            <a:prstDash val="solid"/>
            <a:round/>
          </a:ln>
        </p:spPr>
      </p:pic>
      <p:sp>
        <p:nvSpPr>
          <p:cNvPr name="AutoShape 4" id="4"/>
          <p:cNvSpPr/>
          <p:nvPr/>
        </p:nvSpPr>
        <p:spPr>
          <a:xfrm rot="0" flipH="false" flipV="false">
            <a:off x="1016000" y="762000"/>
            <a:ext cx="1016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4080"/>
                </a:solidFill>
                <a:latin typeface="Noto Sans SC"/>
                <a:ea typeface="Noto Sans SC"/>
                <a:cs typeface="Noto Sans SC"/>
                <a:sym typeface="Noto Sans SC"/>
              </a:rPr>
              <a:t>[本节核心标题]</a:t>
            </a:r>
            <a:endParaRPr lang="en-US" sz="1100"/>
          </a:p>
        </p:txBody>
      </p:sp>
      <p:sp>
        <p:nvSpPr>
          <p:cNvPr name="AutoShape 5" id="5"/>
          <p:cNvSpPr/>
          <p:nvPr/>
        </p:nvSpPr>
        <p:spPr>
          <a:xfrm rot="0" flipH="false" flipV="false">
            <a:off x="1016000" y="1905000"/>
            <a:ext cx="10160000" cy="1143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600">
                <a:solidFill>
                  <a:srgbClr val="4A4A4A"/>
                </a:solidFill>
                <a:latin typeface="Noto Sans SC"/>
                <a:ea typeface="Noto Sans SC"/>
                <a:cs typeface="Noto Sans SC"/>
                <a:sym typeface="Noto Sans SC"/>
              </a:rPr>
              <a:t>在讲解过程中，我们常常需要突出一些关键信息或注意事项。这些内容通常是课程的核心难点，或者是容易被忽视的细节，掌握好它们对于理解整个章节的知识体系至关重要。</a:t>
            </a:r>
            <a:endParaRPr lang="en-US" sz="1100"/>
          </a:p>
        </p:txBody>
      </p:sp>
      <p:sp>
        <p:nvSpPr>
          <p:cNvPr name="AutoShape 6" id="6"/>
          <p:cNvSpPr/>
          <p:nvPr/>
        </p:nvSpPr>
        <p:spPr>
          <a:xfrm rot="0" flipH="false" flipV="false">
            <a:off x="1016000" y="3302000"/>
            <a:ext cx="10160000" cy="1778000"/>
          </a:xfrm>
          <a:prstGeom prst="roundRect">
            <a:avLst>
              <a:gd name="adj" fmla="val 8571"/>
            </a:avLst>
          </a:prstGeom>
          <a:solidFill>
            <a:srgbClr val="FFF3E0">
              <a:alpha val="100000"/>
            </a:srgbClr>
          </a:solidFill>
          <a:ln w="50800" cmpd="sng" cap="flat">
            <a:solidFill>
              <a:srgbClr val="F5A623">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397000" y="3556000"/>
            <a:ext cx="9398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600">
                <a:solidFill>
                  <a:srgbClr val="333333"/>
                </a:solidFill>
                <a:latin typeface="Noto Sans SC"/>
                <a:ea typeface="Noto Sans SC"/>
                <a:cs typeface="Noto Sans SC"/>
                <a:sym typeface="Noto Sans SC"/>
              </a:rPr>
              <a:t>重点提示：</a:t>
            </a:r>
            <a:r>
              <a:rPr lang="en-US" b="false" i="false" strike="noStrike" u="none" sz="1600">
                <a:solidFill>
                  <a:srgbClr val="333333"/>
                </a:solidFill>
                <a:latin typeface="Noto Sans SC"/>
                <a:ea typeface="Noto Sans SC"/>
                <a:cs typeface="Noto Sans SC"/>
                <a:sym typeface="Noto Sans SC"/>
              </a:rPr>
              <a:t>在进行学术研究和数据分析时，必须严格遵循实验设计的基本原则，确保数据来源的可靠性与样本的代表性。任何违背伦理或逻辑的假设，都可能导致最终结论的偏差。</a:t>
            </a:r>
            <a:endParaRPr lang="en-US" sz="1100"/>
          </a:p>
        </p:txBody>
      </p:sp>
      <p:sp>
        <p:nvSpPr>
          <p:cNvPr name="AutoShape 8" id="8"/>
          <p:cNvSpPr/>
          <p:nvPr/>
        </p:nvSpPr>
        <p:spPr>
          <a:xfrm rot="0" flipH="false" flipV="false">
            <a:off x="0" y="5842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888888"/>
                </a:solidFill>
                <a:latin typeface="Noto Sans SC"/>
                <a:ea typeface="Noto Sans SC"/>
                <a:cs typeface="Noto Sans SC"/>
                <a:sym typeface="Noto Sans SC"/>
              </a:rPr>
              <a:t>[学校名称] | [课程名称] | [YYYY年MM月DD日]</a:t>
            </a:r>
            <a:endParaRPr lang="en-US" sz="1100"/>
          </a:p>
        </p:txBody>
      </p:sp>
      <p:pic>
        <p:nvPicPr>
          <p:cNvPr name="Picture 9" id="9"/>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